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dachausbau/genehmigungsfreistellung-62-bauo-bln-dachausbau/" TargetMode="External"/><Relationship Id="rId3" Type="http://schemas.openxmlformats.org/officeDocument/2006/relationships/hyperlink" Target="https://holzundhaus.github.io/spreedachausbau/dateien/minimax-e19045b457f12bfc2244aa4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Genehmigungsfreistellung nach § 62 BauO Bln: Voraussetzungen und Restpflichten beim Dachausbau · Erklärende Präsentation</a:t>
            </a:r>
          </a:p>
        </p:txBody>
      </p:sp>
      <p:sp>
        <p:nvSpPr>
          <p:cNvPr id="3" name="Content Placeholder 2"/>
          <p:cNvSpPr>
            <a:spLocks noGrp="1"/>
          </p:cNvSpPr>
          <p:nvPr>
            <p:ph idx="1"/>
          </p:nvPr>
        </p:nvSpPr>
        <p:spPr/>
        <p:txBody>
          <a:bodyPr/>
          <a:lstStyle/>
          <a:p>
            <a:r>
              <a:t>Überblick: Wer Regenwasser, einen Carport oder eine Terrassenüberdachung in Essen plant, sollte die konstruktiven, wasserbezogenen und baurechtlichen Fragen frühzeitig gemeinsam betrachten. Denn die Bezeichnung des Vorhabens allein sagt noch nichts darüber aus, welches Verfahren passt und welche Unterlagen erforderlich sind. Der folgende Leitfaden ordnet die wichtigen Prüfschritte für die konkrete Ausgestaltung. Er ersetzt weder eine bauvorlageberechtigte Planung noch die Auskunft der zuständigen Bauaufsicht. Insbesondere bei größeren oder auffälligen Vorhaben ist eine frühzeitige Abstimmung sinnvoll, bevor verbindliche Ausführungsentscheidun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Zielbild und räumliche Abgrenzung</a:t>
            </a:r>
          </a:p>
        </p:txBody>
      </p:sp>
      <p:sp>
        <p:nvSpPr>
          <p:cNvPr id="3" name="Content Placeholder 2"/>
          <p:cNvSpPr>
            <a:spLocks noGrp="1"/>
          </p:cNvSpPr>
          <p:nvPr>
            <p:ph idx="1"/>
          </p:nvPr>
        </p:nvSpPr>
        <p:spPr/>
        <p:txBody>
          <a:bodyPr/>
          <a:lstStyle/>
          <a:p>
            <a:pPr>
              <a:defRPr sz="1800"/>
            </a:pPr>
            <a:r>
              <a:t>Zunächst sollte das Vorhaben eindeutig beschrieben werden: Soll ein Carport das Fahrzeug überdecken, eine Terrasse geschützt werden oder wird Regenwasser von Dachflächen gezielt abgeführt und gespeichert? Auch die Kombination mehrerer Elemente verändert die Anforderungen an Flächen, Übergänge, konstruktiven Aufbau und das umliegende Grundstück. Eine skizzenhafte Darstellung mit vorhandenen Gebäudeteilen, geplanten Anbauten, Gefälle und gewünschten Ablaufwegen ist deshalb ein hilfreicher erster Schritt. Spätere Planungen für eine Terrassenüberdachung in Essen oder das Einordnen von Regenwasser am Carport sollten an dieser klaren Zielvorstellun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Zielbild und räumliche Abgrenzung</a:t>
            </a:r>
          </a:p>
        </p:txBody>
      </p:sp>
      <p:sp>
        <p:nvSpPr>
          <p:cNvPr id="3" name="Content Placeholder 2"/>
          <p:cNvSpPr>
            <a:spLocks noGrp="1"/>
          </p:cNvSpPr>
          <p:nvPr>
            <p:ph idx="1"/>
          </p:nvPr>
        </p:nvSpPr>
        <p:spPr/>
        <p:txBody>
          <a:bodyPr/>
          <a:lstStyle/>
          <a:p>
            <a:pPr>
              <a:defRPr sz="1800"/>
            </a:pPr>
            <a:r>
              <a:t>g ansetzen, damit einzelne Maßnahmen nicht getrennt betrachtet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und Wasserführung früh klären</a:t>
            </a:r>
          </a:p>
        </p:txBody>
      </p:sp>
      <p:sp>
        <p:nvSpPr>
          <p:cNvPr id="3" name="Content Placeholder 2"/>
          <p:cNvSpPr>
            <a:spLocks noGrp="1"/>
          </p:cNvSpPr>
          <p:nvPr>
            <p:ph idx="1"/>
          </p:nvPr>
        </p:nvSpPr>
        <p:spPr/>
        <p:txBody>
          <a:bodyPr/>
          <a:lstStyle/>
          <a:p>
            <a:pPr>
              <a:defRPr sz="1800"/>
            </a:pPr>
            <a:r>
              <a:t>Bei der Planung ist zu klären, wo Regenwasser von den überdachten Flächen ankommt, wie es abfließt und ob eine Rückstau- oder Versickerungsabsicht besteht. Wasserführende Flächen, Anschlüsse und die angrenzende Umgebung müssen zusammenpassen. Das gilt auch für die Übergänge zwischen Gebäude, Carport und Terrasse. Welche Nachweise und Ausführungsdetails im konkreten Fall verlangt werden, hängt vom Vorhaben und vom geltenden Planungsrecht ab. Pauschale Aussagen zu Bemessungen oder zu zulässigen Anlagen wären deshalb nicht belastbar. Hilfreich ist eine übersichtliche Darstellung der Fallhöhen, Ablaufwege und Entwässerungspunkte, damit offene Pun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und Wasserführung früh klären</a:t>
            </a:r>
          </a:p>
        </p:txBody>
      </p:sp>
      <p:sp>
        <p:nvSpPr>
          <p:cNvPr id="3" name="Content Placeholder 2"/>
          <p:cNvSpPr>
            <a:spLocks noGrp="1"/>
          </p:cNvSpPr>
          <p:nvPr>
            <p:ph idx="1"/>
          </p:nvPr>
        </p:nvSpPr>
        <p:spPr/>
        <p:txBody>
          <a:bodyPr/>
          <a:lstStyle/>
          <a:p>
            <a:pPr>
              <a:defRPr sz="1800"/>
            </a:pPr>
            <a:r>
              <a:t>kte in der weiteren Planung erkennbar bleiben.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Konstruktion und Bestand gemeinsam prüfen</a:t>
            </a:r>
          </a:p>
        </p:txBody>
      </p:sp>
      <p:sp>
        <p:nvSpPr>
          <p:cNvPr id="3" name="Content Placeholder 2"/>
          <p:cNvSpPr>
            <a:spLocks noGrp="1"/>
          </p:cNvSpPr>
          <p:nvPr>
            <p:ph idx="1"/>
          </p:nvPr>
        </p:nvSpPr>
        <p:spPr/>
        <p:txBody>
          <a:bodyPr/>
          <a:lstStyle/>
          <a:p>
            <a:pPr>
              <a:defRPr sz="1800"/>
            </a:pPr>
            <a:r>
              <a:t>Carports und Terrassenüberdachungen greifen in den Außenbereich ein und müssen mit vorhandenen Bauteilen sowie der Nutzung auf dem Grundstück harmonieren. Zu prüfen sind insbesondere die erforderlichen Eingriffe, die Verbindung zum Bestand, die Ausbildung von Dachflächen und das Zusammenspiel mit bestehenden Entwässerungs- und Lichtinstallationen. Auch die Nutzungsklärung ist wichtig: Wird ein Carport nur als überdachter Stellplatz, eine Terrassenüberdachung als ganzjähriger Aufenthaltsbereich oder ein Bauteil mit weitergehender Funktion geplant? Die Ausführung sollte erst festgelegt werden, wenn diese Fragen sowie die erforderlichen bautechn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Konstruktion und Bestand gemeinsam prüfen</a:t>
            </a:r>
          </a:p>
        </p:txBody>
      </p:sp>
      <p:sp>
        <p:nvSpPr>
          <p:cNvPr id="3" name="Content Placeholder 2"/>
          <p:cNvSpPr>
            <a:spLocks noGrp="1"/>
          </p:cNvSpPr>
          <p:nvPr>
            <p:ph idx="1"/>
          </p:nvPr>
        </p:nvSpPr>
        <p:spPr/>
        <p:txBody>
          <a:bodyPr/>
          <a:lstStyle/>
          <a:p>
            <a:pPr>
              <a:defRPr sz="1800"/>
            </a:pPr>
            <a:r>
              <a:t>ischen Nachweise geklärt sind.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Genehmigungsfrage nicht pauschal beantworten</a:t>
            </a:r>
          </a:p>
        </p:txBody>
      </p:sp>
      <p:sp>
        <p:nvSpPr>
          <p:cNvPr id="3" name="Content Placeholder 2"/>
          <p:cNvSpPr>
            <a:spLocks noGrp="1"/>
          </p:cNvSpPr>
          <p:nvPr>
            <p:ph idx="1"/>
          </p:nvPr>
        </p:nvSpPr>
        <p:spPr/>
        <p:txBody>
          <a:bodyPr/>
          <a:lstStyle/>
          <a:p>
            <a:pPr>
              <a:defRPr sz="1800"/>
            </a:pPr>
            <a:r>
              <a:t>Aus dem Begriff Carport, Terrassenüberdachung oder Regenwasseranlage lässt sich die Verfahrensart nicht automatisch ableiten. Entscheidend ist das konkrete Vorhaben im Zusammenspiel mit dem Planungsrecht und den örtlichen Schutzregelungen. In einem anderen Bundesland, das in der Hauptquelle behandelt wird, kann ein Genehmigungsfreistellungsverfahren nach den dort geltenden Voraussetzungen in Betracht kommen; dieser rechtliche Rahmen ist nicht auf Essen übertragbar. Für die örtliche Einordnung sind daher die zuständigen Stellen maßgeblich. Eine erste Anfrage sollte das Vorhaben, die vorhandenen Unterlagen und die konkreten offenen Fragen entha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Genehmigungsfrage nicht pauschal beantworten</a:t>
            </a:r>
          </a:p>
        </p:txBody>
      </p:sp>
      <p:sp>
        <p:nvSpPr>
          <p:cNvPr id="3" name="Content Placeholder 2"/>
          <p:cNvSpPr>
            <a:spLocks noGrp="1"/>
          </p:cNvSpPr>
          <p:nvPr>
            <p:ph idx="1"/>
          </p:nvPr>
        </p:nvSpPr>
        <p:spPr/>
        <p:txBody>
          <a:bodyPr/>
          <a:lstStyle/>
          <a:p>
            <a:pPr>
              <a:defRPr sz="1800"/>
            </a:pPr>
            <a:r>
              <a:t>lten, damit die Antwort dem tatsächlichen Objekt zugeordnet werden kann.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sammeln und Entscheidungen festhalten</a:t>
            </a:r>
          </a:p>
        </p:txBody>
      </p:sp>
      <p:sp>
        <p:nvSpPr>
          <p:cNvPr id="3" name="Content Placeholder 2"/>
          <p:cNvSpPr>
            <a:spLocks noGrp="1"/>
          </p:cNvSpPr>
          <p:nvPr>
            <p:ph idx="1"/>
          </p:nvPr>
        </p:nvSpPr>
        <p:spPr/>
        <p:txBody>
          <a:bodyPr/>
          <a:lstStyle/>
          <a:p>
            <a:pPr>
              <a:defRPr sz="1800"/>
            </a:pPr>
            <a:r>
              <a:t>Für die Abstimmung werden eine klare Projektbeschreibung, einfache Lage- und Skizzenunterlagen sowie Angaben zur vorhandenen Bebauung und zum gewünschten Nutzungskreis benötigt. Fehlende oder veraltete Bestandspläne sollten ausdrücklich als offene Punkte vermerkt werden. Ergänzend gehören dazu Angaben zu Materialien, konstruktiven Eingriffen, Wasserführung und erkannten Schutzbereichen. Damit lassen sich Fragen besser zuordnen und spätere Entscheidungen nachvollziehbar dokumentieren. Vor einer verbindlichen Beauftragung sollte schriftlich festgehalten werden, welche Punkte geklärt sind, welche Unterlagen noch fehlen und welche Aussagen der zu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sammeln und Entscheidungen festhalten</a:t>
            </a:r>
          </a:p>
        </p:txBody>
      </p:sp>
      <p:sp>
        <p:nvSpPr>
          <p:cNvPr id="3" name="Content Placeholder 2"/>
          <p:cNvSpPr>
            <a:spLocks noGrp="1"/>
          </p:cNvSpPr>
          <p:nvPr>
            <p:ph idx="1"/>
          </p:nvPr>
        </p:nvSpPr>
        <p:spPr/>
        <p:txBody>
          <a:bodyPr/>
          <a:lstStyle/>
          <a:p>
            <a:pPr>
              <a:defRPr sz="1800"/>
            </a:pPr>
            <a:r>
              <a:t>ständigen Stelle oder der Planenden vorliegen. So werden Verfahrensfragen nicht erst während der Umsetzung entdeckt.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Genehmigungsfreistellung nach § 62 BauO Bln: Voraussetzungen und Restpflichten beim Dachausbau</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