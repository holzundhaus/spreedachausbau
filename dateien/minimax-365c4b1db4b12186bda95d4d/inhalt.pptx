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spreedachausbau.blogspot.com/2026/10/erhaltungsgebiet-und-denkmalschutz-beim.html" TargetMode="External"/><Relationship Id="rId3" Type="http://schemas.openxmlformats.org/officeDocument/2006/relationships/hyperlink" Target="https://holzundhaus.github.io/spreedachausbau/dateien/minimax-365c4b1db4b12186bda95d4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Erhaltungsgebiet und Denkmalschutz beim Dachausbau in Berlin: zusätzliche Beteiligungen verstehen · Erklärende Präsentation</a:t>
            </a:r>
          </a:p>
        </p:txBody>
      </p:sp>
      <p:sp>
        <p:nvSpPr>
          <p:cNvPr id="3" name="Content Placeholder 2"/>
          <p:cNvSpPr>
            <a:spLocks noGrp="1"/>
          </p:cNvSpPr>
          <p:nvPr>
            <p:ph idx="1"/>
          </p:nvPr>
        </p:nvSpPr>
        <p:spPr/>
        <p:txBody>
          <a:bodyPr/>
          <a:lstStyle/>
          <a:p>
            <a:r>
              <a:t>Überblick: Bei einem Berliner Dachausbau ist die Verfahrensart nicht die einzige Einordnung. Neben dem bauaufsichtlichen Verfahren können eine erhaltungsrechtliche Beteiligung und eine denkmalrechtliche Erlaubnis erforderlich sein. Besonders relevant wird das, wenn das Gebäude in einem Erhaltungsgebiet liegt, unter Denkmalschutz steht oder historische Dachkonstruktionen erhalten bleiben sollen. Der folgende Leitfaden zeigt, wie sich die drei Regelungsebenen voneinander abgrenzen lassen und welche Unterlagen vor der konkreten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Beteiligungen klar voneinander trennen</a:t>
            </a:r>
          </a:p>
        </p:txBody>
      </p:sp>
      <p:sp>
        <p:nvSpPr>
          <p:cNvPr id="3" name="Content Placeholder 2"/>
          <p:cNvSpPr>
            <a:spLocks noGrp="1"/>
          </p:cNvSpPr>
          <p:nvPr>
            <p:ph idx="1"/>
          </p:nvPr>
        </p:nvSpPr>
        <p:spPr/>
        <p:txBody>
          <a:bodyPr/>
          <a:lstStyle/>
          <a:p>
            <a:pPr>
              <a:defRPr sz="1800"/>
            </a:pPr>
            <a:r>
              <a:t>Die bauaufsichtliche Einordnung beantwortet, ob ein Dachausbau grundsätzlich genehmigungsfrei gestellt ist oder einem regulären Genehmigungsverfahren unterliegt. Eine Verfahrensfreistellung nach § 62 BauO Bln bedeutet jedoch nicht, dass alle weiteren rechtlichen Anforderungen entfallen. In einem förmlich festgelegten Erhaltungsgebiet nach § 172 BauGB kann eine zusätzliche Beteiligung der zuständigen Stelle erforderlich sein. Steht das Gebäude oder ein Bauteil unter Denkmalschutz nach dem Denkmalschutzgesetz Berlin, kommt die denkmalrechtliche Erlaubnis als eigenständiges Verfahren hinzu. Sie kann parallel, vor- oder nachgelagert bearbeitet 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Drei Beteiligungen klar voneinander trennen</a:t>
            </a:r>
          </a:p>
        </p:txBody>
      </p:sp>
      <p:sp>
        <p:nvSpPr>
          <p:cNvPr id="3" name="Content Placeholder 2"/>
          <p:cNvSpPr>
            <a:spLocks noGrp="1"/>
          </p:cNvSpPr>
          <p:nvPr>
            <p:ph idx="1"/>
          </p:nvPr>
        </p:nvSpPr>
        <p:spPr/>
        <p:txBody>
          <a:bodyPr/>
          <a:lstStyle/>
          <a:p>
            <a:pPr>
              <a:defRPr sz="1800"/>
            </a:pPr>
            <a:r>
              <a:t>rden, muss aber vor Baubeginn vorliegen. Der weiterführende Ratgeber zu Erhaltungsgebiet und Denkmalschutz erläutert diese Unterschiede genauer.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Erhaltungsgebiet: sichtbare Veränderungen genauer prüfen</a:t>
            </a:r>
          </a:p>
        </p:txBody>
      </p:sp>
      <p:sp>
        <p:nvSpPr>
          <p:cNvPr id="3" name="Content Placeholder 2"/>
          <p:cNvSpPr>
            <a:spLocks noGrp="1"/>
          </p:cNvSpPr>
          <p:nvPr>
            <p:ph idx="1"/>
          </p:nvPr>
        </p:nvSpPr>
        <p:spPr/>
        <p:txBody>
          <a:bodyPr/>
          <a:lstStyle/>
          <a:p>
            <a:pPr>
              <a:defRPr sz="1800"/>
            </a:pPr>
            <a:r>
              <a:t>Im Erhaltungsgebiet geht es vor allem darum, ob die geplanten Arbeiten die städtebauliche Eigenart des Gebiets beeinträchtigen. Relevant können eine veränderte Dachform, neue Gauben, größere Dachfenster, ein Zwerchhaus oder die Umnutzung bisheriger Gewerbeflächen sein. Auch eine neue Wohneinheit im Dach kann eine erhaltungsrechtliche Prüfung auslösen. Dafür werden in der Regel Darstellungen der äußeren Veränderungen in Ansichten, Schnitten und Fotos verlangt. Hinzu kommen eine Erläuterung zur Wahrung der städtebaulichen Eigenart und gegebenenfalls eine ergänzende Begründung zum Erhalt des Ortsbilds. Entscheidend ist daher nicht nur, ob das Da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Erhaltungsgebiet: sichtbare Veränderungen genauer prüfen</a:t>
            </a:r>
          </a:p>
        </p:txBody>
      </p:sp>
      <p:sp>
        <p:nvSpPr>
          <p:cNvPr id="3" name="Content Placeholder 2"/>
          <p:cNvSpPr>
            <a:spLocks noGrp="1"/>
          </p:cNvSpPr>
          <p:nvPr>
            <p:ph idx="1"/>
          </p:nvPr>
        </p:nvSpPr>
        <p:spPr/>
        <p:txBody>
          <a:bodyPr/>
          <a:lstStyle/>
          <a:p>
            <a:pPr>
              <a:defRPr sz="1800"/>
            </a:pPr>
            <a:r>
              <a:t>chgeschoss baurechtlich grundsätzlich ausgebaut werden darf, sondern wie sichtbar der Eingriff in das Erscheinungsbild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Substanz und historische Bauteile</a:t>
            </a:r>
          </a:p>
        </p:txBody>
      </p:sp>
      <p:sp>
        <p:nvSpPr>
          <p:cNvPr id="3" name="Content Placeholder 2"/>
          <p:cNvSpPr>
            <a:spLocks noGrp="1"/>
          </p:cNvSpPr>
          <p:nvPr>
            <p:ph idx="1"/>
          </p:nvPr>
        </p:nvSpPr>
        <p:spPr/>
        <p:txBody>
          <a:bodyPr/>
          <a:lstStyle/>
          <a:p>
            <a:pPr>
              <a:defRPr sz="1800"/>
            </a:pPr>
            <a:r>
              <a:t>Unter Denkmalschutz rückt die Bausubstanz in den Mittelpunkt. Eingriffe in die Dachkonstruktion, die tragende Substanz oder historische Bauteile können eine denkmalrechtliche Erlaubnis erforderlich machen. Das gilt auch für neue Öffnungen wie Gauben, Dachflächenfenster oder Zwerchgiebel. Besonders sorgfältig geprüft werden Veränderungen an historischen Ausbauten, Kehlbalkenlagen sowie Stuck- und Holzdecken. Nutzungsänderungen, die die geschützte Substanz betreffen, gehören ebenfalls in diese Prüfung. Als Unterlagen können eine Bestandsdokumentation der betroffenen Bauteile, die Darstellung der Eingriffe und der vorgesehenen Materialien sowie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Substanz und historische Bauteile</a:t>
            </a:r>
          </a:p>
        </p:txBody>
      </p:sp>
      <p:sp>
        <p:nvSpPr>
          <p:cNvPr id="3" name="Content Placeholder 2"/>
          <p:cNvSpPr>
            <a:spLocks noGrp="1"/>
          </p:cNvSpPr>
          <p:nvPr>
            <p:ph idx="1"/>
          </p:nvPr>
        </p:nvSpPr>
        <p:spPr/>
        <p:txBody>
          <a:bodyPr/>
          <a:lstStyle/>
          <a:p>
            <a:pPr>
              <a:defRPr sz="1800"/>
            </a:pPr>
            <a:r>
              <a:t>eine nachvollziehbare Begründung der erforderlichen Nutzung verlangt werden. Die Bauplanung sollte außerdem darstellen, welche denkmalverträglichen Alternativen geprüft wurden.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Entwurfsplanung den Bestand klären</a:t>
            </a:r>
          </a:p>
        </p:txBody>
      </p:sp>
      <p:sp>
        <p:nvSpPr>
          <p:cNvPr id="3" name="Content Placeholder 2"/>
          <p:cNvSpPr>
            <a:spLocks noGrp="1"/>
          </p:cNvSpPr>
          <p:nvPr>
            <p:ph idx="1"/>
          </p:nvPr>
        </p:nvSpPr>
        <p:spPr/>
        <p:txBody>
          <a:bodyPr/>
          <a:lstStyle/>
          <a:p>
            <a:pPr>
              <a:defRPr sz="1800"/>
            </a:pPr>
            <a:r>
              <a:t>Noch bevor Gauben, Fensterlösungen oder Grundrisse festgelegt werden, empfiehlt sich eine frühe Bestandsaufnahme. Im Bebauungsplan, in der Denkmalkarte und über Auskünfte des zuständigen Bezirks lässt sich klären, ob eine erhaltungs- oder denkmalrechtliche Besonderheit besteht. Grundrisse, Schnitte, frühere Genehmigungen und Baubeschreibungen helfen dabei, den vorhandenen Zustand zu belegen. Fehlende Unterlagen sollten ausdrücklich als offene Punkte geführt werden. Parallel kann die geplante Maßnahme beschrieben werden: Bleibt die Dachform erhalten, entstehen neue Öffnungen oder verändert sich die Nutzung? Diese Fragen sind mit der bezirklich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Entwurfsplanung den Bestand klären</a:t>
            </a:r>
          </a:p>
        </p:txBody>
      </p:sp>
      <p:sp>
        <p:nvSpPr>
          <p:cNvPr id="3" name="Content Placeholder 2"/>
          <p:cNvSpPr>
            <a:spLocks noGrp="1"/>
          </p:cNvSpPr>
          <p:nvPr>
            <p:ph idx="1"/>
          </p:nvPr>
        </p:nvSpPr>
        <p:spPr/>
        <p:txBody>
          <a:bodyPr/>
          <a:lstStyle/>
          <a:p>
            <a:pPr>
              <a:defRPr sz="1800"/>
            </a:pPr>
            <a:r>
              <a:t>en Bauaufsicht und gegebenenfalls der Denkmalschutzbehörde abzustimmen.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bündeln und Zuständigkeiten klären</a:t>
            </a:r>
          </a:p>
        </p:txBody>
      </p:sp>
      <p:sp>
        <p:nvSpPr>
          <p:cNvPr id="3" name="Content Placeholder 2"/>
          <p:cNvSpPr>
            <a:spLocks noGrp="1"/>
          </p:cNvSpPr>
          <p:nvPr>
            <p:ph idx="1"/>
          </p:nvPr>
        </p:nvSpPr>
        <p:spPr/>
        <p:txBody>
          <a:bodyPr/>
          <a:lstStyle/>
          <a:p>
            <a:pPr>
              <a:defRPr sz="1800"/>
            </a:pPr>
            <a:r>
              <a:t>Für die weitere Planung ist eine übersichtliche Unterlagenliste hilfreich. Sie sollte baurechtliche Nachweise, Bestandsdokumentation, Ansichten und Schnitte, Angaben zu Materialien sowie eine Beschreibung der sichtbaren und substanziellen Eingriffe enthalten. Welche Unterlagen konkret benötigt werden, hängt vom Einzelfall ab. Allgemeine Informationen zur Berliner Genehmigung und Genehmigungsfreistellung bietet der Ratgeber zur Dachausbau-Genehmigung in Berlin. Wichtig ist, die drei Beteiligungen nicht miteinander zu vermischen: Das Bauverfahren, die erhaltungsrechtliche Prüfung und der Denkmalschutz können jeweils eigene Anforderungen und Zus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bündeln und Zuständigkeiten klären</a:t>
            </a:r>
          </a:p>
        </p:txBody>
      </p:sp>
      <p:sp>
        <p:nvSpPr>
          <p:cNvPr id="3" name="Content Placeholder 2"/>
          <p:cNvSpPr>
            <a:spLocks noGrp="1"/>
          </p:cNvSpPr>
          <p:nvPr>
            <p:ph idx="1"/>
          </p:nvPr>
        </p:nvSpPr>
        <p:spPr/>
        <p:txBody>
          <a:bodyPr/>
          <a:lstStyle/>
          <a:p>
            <a:pPr>
              <a:defRPr sz="1800"/>
            </a:pPr>
            <a:r>
              <a:t>tändigkeiten haben. Erst ihre gemeinsame Betrachtung zeigt, welche Abstimmungen vor der weiteren Planung erforderlich sind.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Erhaltungsgebiet und Denkmalschutz beim Dachausbau in Berlin: zusätzliche Beteiligungen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