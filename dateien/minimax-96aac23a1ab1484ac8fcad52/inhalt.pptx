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dachausbau.blogspot.com/2026/10/badezimmer-im-dachgeschoss-leitungswege.html" TargetMode="External"/><Relationship Id="rId3" Type="http://schemas.openxmlformats.org/officeDocument/2006/relationships/hyperlink" Target="https://holzundhaus.github.io/spreedachausbau/dateien/minimax-96aac23a1ab1484ac8fcad5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Badezimmer im Dachgeschoss: Leitungswege und Anschlussfragen früh klären · Erklärende Präsentation</a:t>
            </a:r>
          </a:p>
        </p:txBody>
      </p:sp>
      <p:sp>
        <p:nvSpPr>
          <p:cNvPr id="3" name="Content Placeholder 2"/>
          <p:cNvSpPr>
            <a:spLocks noGrp="1"/>
          </p:cNvSpPr>
          <p:nvPr>
            <p:ph idx="1"/>
          </p:nvPr>
        </p:nvSpPr>
        <p:spPr/>
        <p:txBody>
          <a:bodyPr/>
          <a:lstStyle/>
          <a:p>
            <a:r>
              <a:t>Überblick: Ein Badezimmer im Dachgeschoss verlangt mehr als die Auswahl von Fliesen, Armaturen und Sanitärobjekten. Entscheidend ist, ob Leitungswege, Anschlüsse, Lüftung, Heizung und statische Reserven im vorhandenen Gebäude möglich sind. Wer diese Fragen vor der Raumplanung klärt, kann den Grundriss an die technischen Gegebenheiten anpassen und Angebote auf einem belastbaren Leistungsumfang aufbauen. Der folgende Leitfaden zeigt die wichtigsten Prüfpunkte und eine sinnvolle Reihenfolge für die 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Dachgeschoss besondere Anforderungen stellt</a:t>
            </a:r>
          </a:p>
        </p:txBody>
      </p:sp>
      <p:sp>
        <p:nvSpPr>
          <p:cNvPr id="3" name="Content Placeholder 2"/>
          <p:cNvSpPr>
            <a:spLocks noGrp="1"/>
          </p:cNvSpPr>
          <p:nvPr>
            <p:ph idx="1"/>
          </p:nvPr>
        </p:nvSpPr>
        <p:spPr/>
        <p:txBody>
          <a:bodyPr/>
          <a:lstStyle/>
          <a:p>
            <a:pPr>
              <a:defRPr sz="1800"/>
            </a:pPr>
            <a:r>
              <a:t>Im Dachgeschoss liegen unlike in einem bereits ausgebauten Bad oft keine passenden Wasser-, Abwasser- und Lüftungsanschlüsse an der vorgesehenen Stelle vor. Wasser- und Abwasserleitungen müssen gegebenenfalls vom darunterliegenden Geschoss nach oben geführt werden. Das kann längere Leitungswege und zusätzliche Arbeiten an Steigeleitungen und Bestandssträngen bedeuten. Hinzu kommen die hohe Feuchtigkeit, das Gewicht schwerer Sanitärobjekte und mögliche Belastungen durch Installationswände. Die Raumhöhe ist ebenfalls knapper, weil Leitungen, Lüftung und Leitungswege Platz benötigen. Ein Bad sollte deshalb nicht zuerst ausschließlich nach optisc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Dachgeschoss besondere Anforderungen stellt</a:t>
            </a:r>
          </a:p>
        </p:txBody>
      </p:sp>
      <p:sp>
        <p:nvSpPr>
          <p:cNvPr id="3" name="Content Placeholder 2"/>
          <p:cNvSpPr>
            <a:spLocks noGrp="1"/>
          </p:cNvSpPr>
          <p:nvPr>
            <p:ph idx="1"/>
          </p:nvPr>
        </p:nvSpPr>
        <p:spPr/>
        <p:txBody>
          <a:bodyPr/>
          <a:lstStyle/>
          <a:p>
            <a:pPr>
              <a:defRPr sz="1800"/>
            </a:pPr>
            <a:r>
              <a:t>hen Wünschen geplant werden. Die technische Machbarkeit bildet die Grundlage für einen belastbaren Grundriss.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Leitungswege und Anschlusspunkte im Bestand prüfen</a:t>
            </a:r>
          </a:p>
        </p:txBody>
      </p:sp>
      <p:sp>
        <p:nvSpPr>
          <p:cNvPr id="3" name="Content Placeholder 2"/>
          <p:cNvSpPr>
            <a:spLocks noGrp="1"/>
          </p:cNvSpPr>
          <p:nvPr>
            <p:ph idx="1"/>
          </p:nvPr>
        </p:nvSpPr>
        <p:spPr/>
        <p:txBody>
          <a:bodyPr/>
          <a:lstStyle/>
          <a:p>
            <a:pPr>
              <a:defRPr sz="1800"/>
            </a:pPr>
            <a:r>
              <a:t>Vor der Entscheidung über die Position von Dusche, Waschtisch und WC sollte der vorhandene Leitungsverlauf nachvollzogen werden. Wichtig sind der nächste Anschlusspunkt für Frischwasser, die Möglichkeiten der Abwasserführung und das verfügbare Gefälle. Liegt der Anschluss im Erdgeschoss oder Keller, können durch die Verlängerung der Wege mehrere Kostenpositionen berührt werden. Auch die Führung der Leitungen durch Schächte, Vorwandinstallationen oder andere Installationsebenen beeinflusst Raumhöhe und Grundriss. Häufig lässt sich das gewünschte Layout nur so verwirklichen, dass Leitungswege und Sanitärobjekte gemeinsam betrachtet werden. Hilf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Leitungswege und Anschlusspunkte im Bestand prüfen</a:t>
            </a:r>
          </a:p>
        </p:txBody>
      </p:sp>
      <p:sp>
        <p:nvSpPr>
          <p:cNvPr id="3" name="Content Placeholder 2"/>
          <p:cNvSpPr>
            <a:spLocks noGrp="1"/>
          </p:cNvSpPr>
          <p:nvPr>
            <p:ph idx="1"/>
          </p:nvPr>
        </p:nvSpPr>
        <p:spPr/>
        <p:txBody>
          <a:bodyPr/>
          <a:lstStyle/>
          <a:p>
            <a:pPr>
              <a:defRPr sz="1800"/>
            </a:pPr>
            <a:r>
              <a:t>reich ist eine skizzenartige Bestandsaufnahme: Leitungen, Anschlüsse, nutzbare Flächen und denkbare Installationsbereiche können darin gegenübergestellt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Lüftung und Heizung gemeinsam bedenken</a:t>
            </a:r>
          </a:p>
        </p:txBody>
      </p:sp>
      <p:sp>
        <p:nvSpPr>
          <p:cNvPr id="3" name="Content Placeholder 2"/>
          <p:cNvSpPr>
            <a:spLocks noGrp="1"/>
          </p:cNvSpPr>
          <p:nvPr>
            <p:ph idx="1"/>
          </p:nvPr>
        </p:nvSpPr>
        <p:spPr/>
        <p:txBody>
          <a:bodyPr/>
          <a:lstStyle/>
          <a:p>
            <a:pPr>
              <a:defRPr sz="1800"/>
            </a:pPr>
            <a:r>
              <a:t>Die Tragfähigkeit der Decke muss zu den geplanten Lasten passen. Eine Badewanne, ein schwerer Waschtisch oder eine Installationswand können zusätzliche Anforderungen an die vorhandene Konstruktion stellen. Neben dem Bad ist außerdem ein Lüftungskonzept zu klären, damit Feuchtigkeit kontrolliert abgeführt wird. Ob ein Abluftventilator genügt oder eine balancierte Lüftung mit dem Dämmkonzept sinnvoll ist, hängt von den Gegebenheiten ab. Auch die Heizung sollte früh einbezogen werden. Eine eigene Heizfläche, etwa als Wandheizkörper oder Fußbodenheizung, setzt verfügbare Flächen, Leitungswege und Anschlussmöglichkeiten voraus. Die Heizlast im Dac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Lüftung und Heizung gemeinsam bedenken</a:t>
            </a:r>
          </a:p>
        </p:txBody>
      </p:sp>
      <p:sp>
        <p:nvSpPr>
          <p:cNvPr id="3" name="Content Placeholder 2"/>
          <p:cNvSpPr>
            <a:spLocks noGrp="1"/>
          </p:cNvSpPr>
          <p:nvPr>
            <p:ph idx="1"/>
          </p:nvPr>
        </p:nvSpPr>
        <p:spPr/>
        <p:txBody>
          <a:bodyPr/>
          <a:lstStyle/>
          <a:p>
            <a:pPr>
              <a:defRPr sz="1800"/>
            </a:pPr>
            <a:r>
              <a:t>hgeschoss kann von der der darunterliegenden Geschosse abweichen. Statische Nachweise, Lüftungsplanung und Wärmeversorgung gehören daher in dieselbe frühe Prüfung.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den Grundriss, dann die Ausstattung festlegen</a:t>
            </a:r>
          </a:p>
        </p:txBody>
      </p:sp>
      <p:sp>
        <p:nvSpPr>
          <p:cNvPr id="3" name="Content Placeholder 2"/>
          <p:cNvSpPr>
            <a:spLocks noGrp="1"/>
          </p:cNvSpPr>
          <p:nvPr>
            <p:ph idx="1"/>
          </p:nvPr>
        </p:nvSpPr>
        <p:spPr/>
        <p:txBody>
          <a:bodyPr/>
          <a:lstStyle/>
          <a:p>
            <a:pPr>
              <a:defRPr sz="1800"/>
            </a:pPr>
            <a:r>
              <a:t>Eine zweckmäßige Planungsreihenfolge beginnt mit der Bestandsaufnahme von Leitungen und Anschlüssen. Danach folgt die statische Einschätzung der Decke sowie die Entscheidung über das Lüftungskonzept. Erst auf dieser Grundlage lassen sich die Positionen von Dusche, Waschtisch und WC sinnvoll zuordnen. Die Ausstattung kann anschließend an die vorhandene Raumhöhe, die Leitungswege und die technischen Anschlüsse angepasst werden. Für die Angebotsgrundlage ist es hilfreich, die erforderlichen Leistungen ausdrücklich zu beschreiben: neue Leitungswege, Anschlüsse an Bestandsstränge, gegebenenfalls neue Steigeleitungen, Lüftungsmaßnahmen, statische 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den Grundriss, dann die Ausstattung festlegen</a:t>
            </a:r>
          </a:p>
        </p:txBody>
      </p:sp>
      <p:sp>
        <p:nvSpPr>
          <p:cNvPr id="3" name="Content Placeholder 2"/>
          <p:cNvSpPr>
            <a:spLocks noGrp="1"/>
          </p:cNvSpPr>
          <p:nvPr>
            <p:ph idx="1"/>
          </p:nvPr>
        </p:nvSpPr>
        <p:spPr/>
        <p:txBody>
          <a:bodyPr/>
          <a:lstStyle/>
          <a:p>
            <a:pPr>
              <a:defRPr sz="1800"/>
            </a:pPr>
            <a:r>
              <a:t>achweise und die geplante Heizung. So werden vergleichbare Angebote möglich. Eine erste Orientierung zu den Positionen eines Dachausbaus bietet der Ratgeber zu [Dachausbau-Kosten]. Auch die [Angebotsauswertung] unterstützt dabei, den beschriebenen Leistungsumfang in eingereichten Angeboten wiederzufinden.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belastbares Angebot nachvollziehbar machen muss</a:t>
            </a:r>
          </a:p>
        </p:txBody>
      </p:sp>
      <p:sp>
        <p:nvSpPr>
          <p:cNvPr id="3" name="Content Placeholder 2"/>
          <p:cNvSpPr>
            <a:spLocks noGrp="1"/>
          </p:cNvSpPr>
          <p:nvPr>
            <p:ph idx="1"/>
          </p:nvPr>
        </p:nvSpPr>
        <p:spPr/>
        <p:txBody>
          <a:bodyPr/>
          <a:lstStyle/>
          <a:p>
            <a:pPr>
              <a:defRPr sz="1800"/>
            </a:pPr>
            <a:r>
              <a:t>Die technische Prüfung muss nicht alle Details des späteren Ausbaus vorwegnehmen, sollte aber die offenen Fragen und erkannten Randbedingungen sichtbar machen. Dazu gehören der Standort vorhandener Anschlüsse, die voraussichtlichen Leitungswege, die erforderliche Lüftung, die statischen Ausgangspunkte und die gewählte Wärmeversorgung. Auch Abhängigkeiten zwischen den Gewerken sind relevant: Änderungen am Grundriss können Leitungswege und Flächen für die Heizung beeinflussen. Wer Angebote nach denselben Positionen vergleichen möchte, sollte daher einen einheitlichen Prüfumfang vereinbaren und Abweichungen getrennt erfassen. So lässt sich besse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belastbares Angebot nachvollziehbar machen muss</a:t>
            </a:r>
          </a:p>
        </p:txBody>
      </p:sp>
      <p:sp>
        <p:nvSpPr>
          <p:cNvPr id="3" name="Content Placeholder 2"/>
          <p:cNvSpPr>
            <a:spLocks noGrp="1"/>
          </p:cNvSpPr>
          <p:nvPr>
            <p:ph idx="1"/>
          </p:nvPr>
        </p:nvSpPr>
        <p:spPr/>
        <p:txBody>
          <a:bodyPr/>
          <a:lstStyle/>
          <a:p>
            <a:pPr>
              <a:defRPr sz="1800"/>
            </a:pPr>
            <a:r>
              <a:t>r erkennen, welche Angebote denselben Projektstand kalkulieren und wo zusätzliche Leistungen oder Annahmen enthalten sind.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Badezimmer im Dachgeschoss: Leitungswege und Anschlussfragen früh klären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